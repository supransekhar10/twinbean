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EHR only</c:v>
          </c:tx>
          <c:spPr>
            <a:solidFill>
              <a:srgbClr val="A6BCB4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ROC AUC</c:v>
                </c:pt>
                <c:pt idx="1">
                  <c:v>Avg precision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0.78100000000000003</c:v>
                </c:pt>
                <c:pt idx="1">
                  <c:v>0.84099999999999997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CF-43E7-A874-5FBC070F1532}"/>
            </c:ext>
          </c:extLst>
        </c:ser>
        <c:ser>
          <c:idx val="1"/>
          <c:order val="1"/>
          <c:tx>
            <c:v>EHR + IoT</c:v>
          </c:tx>
          <c:spPr>
            <a:solidFill>
              <a:srgbClr val="0D665D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ROC AUC</c:v>
                </c:pt>
                <c:pt idx="1">
                  <c:v>Avg precision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0.81100000000000005</c:v>
                </c:pt>
                <c:pt idx="1">
                  <c:v>0.85899999999999999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CF-43E7-A874-5FBC070F15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CAD5D0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7F3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latin typeface="DejaVu Sans"/>
              <a:ea typeface="DejaVu Sans"/>
              <a:cs typeface="DejaVu San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4F7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README.md; PROJECT.md; frontend/public/twinbean-logo.png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README.md, Problem statement and Healthcare use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PROJECT.md; README.md, Two-stream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README.md; docs/SYNTHETIC_DATA.md; backend/app/synthetic_data.py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README.md, Prototype workflow; frontend/src/components/dashboard-screen.tsx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frontend/src/components/dashboard-screen.tsx; doctor-dashboard.tsx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https://twinbean.vercel.app/dashboard. Captured 23 October 2026. The website identifies these records as synthetic. Prediction timestamps are historical saved demo outputs, not live clinical forecasts.</a:t>
            </a:r>
          </a:p>
          <a:p>
            <a:r>
              <a:t>The overview displays six patients meeting current creatinine criteria and 18 available risk results. Priority uses observed criteria before model-based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https://twinbean.vercel.app/patients. Captured 23 October 2026. The website identifies these records as synthetic. Prediction timestamps are historical saved demo outputs, not live clinical forecasts.</a:t>
            </a:r>
          </a:p>
          <a:p>
            <a:r>
              <a:t>Current rule, clinical priority, 24-hour probability, and generation time appear in distinct columns. Search and filters support cohort review. Values are saved synthetic demo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frontend/src/components/patient-detail.tsx; backend/app/patient_routes.py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https://twinbean.vercel.app/patients/tbp-c13c739da4cf56658db94b92e5aac1da. Captured 23 October 2026. The website identifies these records as synthetic. Prediction timestamps are historical saved demo outputs, not live clinical forecasts.</a:t>
            </a:r>
          </a:p>
          <a:p>
            <a:r>
              <a:t>The patient record shows kidney measurements and separate creatinine and eGFR trends. The full patient record is available alongside the report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backend/app/clinical_rules.py; aki_features.py; prediction_service.py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https://twinbean.vercel.app/patients/tbp-c13c739da4cf56658db94b92e5aac1da. Captured 23 October 2026. The website identifies these records as synthetic. Prediction timestamps are historical saved demo outputs, not live clinical forecasts.</a:t>
            </a:r>
          </a:p>
          <a:p>
            <a:r>
              <a:t>The current creatinine rule is shown beside a saved 24-hour AKI probability of 92.1%. The forecast’s generation timestamp remains visible. These are synthetic demo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backend/app/aki_features.py; aki_model.py; model_artifacts/aki-24h-2026.10.08b/manifest.json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backend/app/aki_features.py; aki_explanations.py; prediction_service.py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backend/app/aki_explanations.py; model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https://twinbean.vercel.app/patients/tbp-c13c739da4cf56658db94b92e5aac1da. Captured 23 October 2026. The website identifies these records as synthetic. Prediction timestamps are historical saved demo outputs, not live clinical forecasts.</a:t>
            </a:r>
          </a:p>
          <a:p>
            <a:r>
              <a:t>The view lists feature values and positive or negative contributions, with a reconstructed probability. Contributions describe model influence; they are not causes or treatment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backend/app/twini.py; frontend/src/components/twini-assistant.tsx; twini-drawer.tsx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https://twinbean.vercel.app/assistant. Captured 23 October 2026. The website identifies these records as synthetic. Prediction timestamps are historical saved demo outputs, not live clinical forecasts.</a:t>
            </a:r>
          </a:p>
          <a:p>
            <a:r>
              <a:t>Project knowledge and a patient-context selector support the conversation workspace. Suggested questions explain evidence, terminology,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README.md, Architecture; backend/app/auth.py; firestore.py; frontend/src/lib/api.ts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README.md, Technical stack; frontend/package.json; backend/pyproject.toml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docs/MODEL_EVALUATION.md; backend/artifacts/evals/phase6-model-evaluation.json</a:t>
            </a:r>
          </a:p>
          <a:p>
            <a:r>
              <a:t>The phase6 comparison uses a 74/26 split. The active release manifest separately records 25 held-out patients; these are distinct artifacts. Do not attribute this comparison to an independent clinical validation of the active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docs/MODEL_EVALUATION.md; backend/artifacts/evals/phase6-model-evaluation.json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docs/MODEL_EVALUATION.md; backend/artifacts/evals/phase6-model-evaluation.json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README.md; backend/app/patient_report.py; patient_routes.py; auth.py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https://twinbean.vercel.app/reports. Captured 23 October 2026. The website identifies these records as synthetic. Prediction timestamps are historical saved demo outputs, not live clinical forecasts.</a:t>
            </a:r>
          </a:p>
          <a:p>
            <a:r>
              <a:t>The reports page lists 18 synthetic patient reports with record links and PDF download controls. Reports keep observed rules, model output, SHAP, and notes in separate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actual authenticated TwinBean demo UI at https://twinbean.vercel.app/reviews. Captured 23 October 2026. The website identifies these records as synthetic. Prediction timestamps are historical saved demo outputs, not live clinical forecasts.</a:t>
            </a:r>
          </a:p>
          <a:p>
            <a:r>
              <a:t>The captured queue contains four prioritized synthetic patients awaiting a saved doctor note. A saved note moves the patient out of this pending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README.md, Limitations and next steps; 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TwinBean project archive; README.md; 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405E02-A39C-42C3-BC6E-A675D3DE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57A867F-1E2D-495C-B14F-8D75772AA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24711ED-E088-4215-AC12-598DE2FB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F888776-DDC0-4732-8DF9-F4CFF091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4F4D4CD-2C4B-4CB9-9168-C2D9A964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79EDD6D-2F8F-49B4-8856-1F4A22B4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2016F50-1F21-4559-9611-C1B0F219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9914361-1B4D-4002-835A-7EC7C675C7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A3D343-3874-4638-A7DD-CE80BE89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7ECBB93-2255-49FE-95EA-F851C7563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BDA300-6663-4067-8444-599B9492A3D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TwinBean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DD2E24-3A1C-4489-9C12-B7D006FC017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3C716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13A6F-03D0-48E2-8B82-EED4C396654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0EE2DF-7EE9-4CC0-91BE-539484EAAA59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66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Kidney digital twin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C9BDD-5070-460B-81FB-4ECC8A252B9A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7048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24-hour acute kidney injury</a:t>
            </a:r>
          </a:p>
          <a:p>
            <a:pPr>
              <a:buNone/>
              <a:def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risk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C33A4-B011-466F-9C7C-CD87013ADD27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704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Synthetic EHR history and simulated home monitoring</a:t>
            </a:r>
          </a:p>
          <a:p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 one clinician review workflow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D206C-6400-47D1-BD59-7BB45738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9125" y="2138738"/>
            <a:ext cx="3143250" cy="27710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56D792-2BD6-402E-AE3C-89FED3A21BD7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Happiest Health Hackathon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BBFAC-62E0-49B8-B77B-D68B78FD337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567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674A4D-A606-4059-BB81-4865DBB2E55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The problem TwinBean addresses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20C66-F42B-4DEA-A56A-99A77C778BE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6C8C3F-BB5A-45CF-B776-10786F5415E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A5A76-8A36-43EA-BA81-174EC292480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Fragmented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0FF30-70A5-450B-A177-6181D2AC0B19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Periodic health records and home-monitoring observations sit in separate streams.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F08FD-6B15-479A-8ABD-1C54BF78AC1A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Difficult prioritization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D4F82-A347-4E75-9074-F870EB375F0E}"/>
              </a:ext>
            </a:extLst>
          </p:cNvPr>
          <p:cNvSpPr>
            <a:spLocks noGrp="1"/>
          </p:cNvSpPr>
          <p:nvPr/>
        </p:nvSpPr>
        <p:spPr>
          <a:xfrm>
            <a:off x="6381750" y="24955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clinician needs to see current changes, valid forecasts, and evidence gaps together.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1F63C1-ACEB-48BC-BCF6-AE8BCAB6CBC4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Ambiguous model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088BD-F379-44B4-8B29-DD1A24B23AB9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missing prediction must remain unavailable; displaying zero would imply low risk.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C660A-9206-4817-9ADA-F21FBDDF95C9}"/>
              </a:ext>
            </a:extLst>
          </p:cNvPr>
          <p:cNvSpPr>
            <a:spLocks noGrp="1"/>
          </p:cNvSpPr>
          <p:nvPr/>
        </p:nvSpPr>
        <p:spPr>
          <a:xfrm>
            <a:off x="6381750" y="40386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Focused 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415BE-A741-4551-81C3-7B4A9696FDA4}"/>
              </a:ext>
            </a:extLst>
          </p:cNvPr>
          <p:cNvSpPr>
            <a:spLocks noGrp="1"/>
          </p:cNvSpPr>
          <p:nvPr/>
        </p:nvSpPr>
        <p:spPr>
          <a:xfrm>
            <a:off x="6381750" y="45815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prototype reviews a new AKI event within 24 hours in synthetic adults with CKD.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37E8AB-F676-44A2-A4A6-0309CB57039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28CEE9-7882-2AE8-C0B5-325B485E2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1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2B2F366-6041-47B2-9E3C-3445647AA19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What the digital twin represents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5B491-5A20-4664-A403-61D21528EA2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2564D-78CF-4519-9C5D-F6AC5A8B792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E2E0B-1580-4507-B6C8-6DC82B11682C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One patient, aligned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3F52A-3D98-4DA5-BA12-919AE2515F5D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1028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time-stamped computational view of kidney-related history and simulated observations, updated through the prototype data workflow.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A146-6D56-4F33-BA0E-9659497DEF90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CKD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2A214-D3E3-4614-B118-8C6426BB2A6A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Chronic kidney disease: the long-term condition represented in the synthetic cohort.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4C21A-25DB-428C-AF7F-F205F6EFBE33}"/>
              </a:ext>
            </a:extLst>
          </p:cNvPr>
          <p:cNvSpPr>
            <a:spLocks noGrp="1"/>
          </p:cNvSpPr>
          <p:nvPr/>
        </p:nvSpPr>
        <p:spPr>
          <a:xfrm>
            <a:off x="6381750" y="41910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AKI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DC8EE-8A41-4EFB-BD93-B031D9ED0EC8}"/>
              </a:ext>
            </a:extLst>
          </p:cNvPr>
          <p:cNvSpPr>
            <a:spLocks noGrp="1"/>
          </p:cNvSpPr>
          <p:nvPr/>
        </p:nvSpPr>
        <p:spPr>
          <a:xfrm>
            <a:off x="6381750" y="47339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Acute kidney injury: the new event targeted by the 24-hour prediction.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5C2FE-536D-4984-B73B-3A046ED4390C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1BC673-3106-DF24-E6C5-8FDC0A347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8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368A3EF-CCD3-4FB1-9AD5-4C1ECB4813A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Two data streams, preserved provenance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7F7879-C5F1-4B19-9AC3-AF3713D51CB4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EB1F3-BFB7-4CB4-A001-EFDE4F34E55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7D1D5-51BB-4885-B2C0-0E085AF463EB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Historical EHR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0487E8-8E7B-46BB-80ED-DA4CA02A4411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Demographics and CKD stage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Encounters and medications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Creatinine, eGFR, BUN, potassium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780288-FE2E-430A-BBD4-B392C1BBF238}"/>
              </a:ext>
            </a:extLst>
          </p:cNvPr>
          <p:cNvSpPr>
            <a:spLocks noGrp="1"/>
          </p:cNvSpPr>
          <p:nvPr/>
        </p:nvSpPr>
        <p:spPr>
          <a:xfrm>
            <a:off x="6381750" y="191452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Simulated medical IoT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00D9B-D089-43CE-9639-153A65944A4A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Weight observations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Blood-pressure time series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Heart-rate observations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A0AEA-CE78-4ECA-87EF-B9E12D2C2AFE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972800" cy="1162050"/>
          </a:xfrm>
          <a:prstGeom prst="rect">
            <a:avLst/>
          </a:prstGeom>
          <a:solidFill>
            <a:srgbClr val="DCEEE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32230-B6BE-4B85-9CE6-55BC5B153C8A}"/>
              </a:ext>
            </a:extLst>
          </p:cNvPr>
          <p:cNvSpPr>
            <a:spLocks noGrp="1"/>
          </p:cNvSpPr>
          <p:nvPr/>
        </p:nvSpPr>
        <p:spPr>
          <a:xfrm>
            <a:off x="857250" y="4581525"/>
            <a:ext cx="1045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 ID + UTC prediction cutoff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DC3F7E-667F-4187-9787-E83BD26E22B8}"/>
              </a:ext>
            </a:extLst>
          </p:cNvPr>
          <p:cNvSpPr>
            <a:spLocks noGrp="1"/>
          </p:cNvSpPr>
          <p:nvPr/>
        </p:nvSpPr>
        <p:spPr>
          <a:xfrm>
            <a:off x="857250" y="5076825"/>
            <a:ext cx="10458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Both streams retain source labels, cohort ID, generator version, and synthetic provenance.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D8002-EC23-4F0D-B18F-AAE3F46A25BB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 current model uses four inputs; other measurements provide review context.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352FC-D7A4-4844-9E1A-0848723D78DB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5F225F-FDCD-32B9-05AB-546B6B73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2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64AAA6-0FF6-4108-B0F0-579CCCA3016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The clinician review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693E79-D102-4C6B-9DF6-E8E56AC9C5A0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E27AD-A1EE-464C-88C7-8F30E394546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6686D-6A8C-4B29-BB48-674EB866BA1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85A18-F7D2-4C92-8ADD-4F566A86F141}"/>
              </a:ext>
            </a:extLst>
          </p:cNvPr>
          <p:cNvSpPr>
            <a:spLocks noGrp="1"/>
          </p:cNvSpPr>
          <p:nvPr/>
        </p:nvSpPr>
        <p:spPr>
          <a:xfrm>
            <a:off x="1485900" y="18478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Authenticate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851D6-84D1-45F5-B8DF-2F53D4B3025F}"/>
              </a:ext>
            </a:extLst>
          </p:cNvPr>
          <p:cNvSpPr>
            <a:spLocks noGrp="1"/>
          </p:cNvSpPr>
          <p:nvPr/>
        </p:nvSpPr>
        <p:spPr>
          <a:xfrm>
            <a:off x="4762500" y="1847850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Sign in with Firebase; the backend verifies a trusted doctor role.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B2875-FAE3-46C2-A211-C4EE75866A0C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3304D-0477-4721-842C-BA29DA3B1DC9}"/>
              </a:ext>
            </a:extLst>
          </p:cNvPr>
          <p:cNvSpPr>
            <a:spLocks noGrp="1"/>
          </p:cNvSpPr>
          <p:nvPr/>
        </p:nvSpPr>
        <p:spPr>
          <a:xfrm>
            <a:off x="1485900" y="28670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Prioritize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58F1D-A48F-42FB-879D-74818A393E97}"/>
              </a:ext>
            </a:extLst>
          </p:cNvPr>
          <p:cNvSpPr>
            <a:spLocks noGrp="1"/>
          </p:cNvSpPr>
          <p:nvPr/>
        </p:nvSpPr>
        <p:spPr>
          <a:xfrm>
            <a:off x="4762500" y="286702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Review current creatinine criteria and valid future-risk results.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A337B-316A-494E-87C3-6CF61AFF67F1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2989E4-F9A6-471A-A269-4B947D6B7157}"/>
              </a:ext>
            </a:extLst>
          </p:cNvPr>
          <p:cNvSpPr>
            <a:spLocks noGrp="1"/>
          </p:cNvSpPr>
          <p:nvPr/>
        </p:nvSpPr>
        <p:spPr>
          <a:xfrm>
            <a:off x="1485900" y="38862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Inspect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DED4-3CBC-4DA6-B4EC-3076DDB00E63}"/>
              </a:ext>
            </a:extLst>
          </p:cNvPr>
          <p:cNvSpPr>
            <a:spLocks noGrp="1"/>
          </p:cNvSpPr>
          <p:nvPr/>
        </p:nvSpPr>
        <p:spPr>
          <a:xfrm>
            <a:off x="4762500" y="3886200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Open patient history, simulated trends, timestamps, and SHAP influence.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B5F2B3-26C3-4CA4-A078-86311E44EDB1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5469ED-BBA6-4417-BD80-1983F136DD07}"/>
              </a:ext>
            </a:extLst>
          </p:cNvPr>
          <p:cNvSpPr>
            <a:spLocks noGrp="1"/>
          </p:cNvSpPr>
          <p:nvPr/>
        </p:nvSpPr>
        <p:spPr>
          <a:xfrm>
            <a:off x="1485900" y="4905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Document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23B21B-E05A-4950-93DA-B8258933BC6C}"/>
              </a:ext>
            </a:extLst>
          </p:cNvPr>
          <p:cNvSpPr>
            <a:spLocks noGrp="1"/>
          </p:cNvSpPr>
          <p:nvPr/>
        </p:nvSpPr>
        <p:spPr>
          <a:xfrm>
            <a:off x="4762500" y="490537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Save a doctor note and download a protected patient PDF.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A87059-7F89-425F-9C1C-9634C801E11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7ED98A-AB13-C663-E735-0E777705E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49B148-BDBD-473F-A47E-F93A5544C90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Dashboard and review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4F75D-7071-4F4A-9261-368D910E379C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0DD0A-1251-495D-ABA3-6886B73F54B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B4617-C6DB-4C3E-8D93-FED3687E652E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Clinical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994BF9-C6A7-4D49-8FBD-FAF14F50A2E1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Shows monitored patients, current criteria met, and available predictions.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5EDE0-6E7A-4B36-95A2-C4D8D711589D}"/>
              </a:ext>
            </a:extLst>
          </p:cNvPr>
          <p:cNvSpPr>
            <a:spLocks noGrp="1"/>
          </p:cNvSpPr>
          <p:nvPr/>
        </p:nvSpPr>
        <p:spPr>
          <a:xfrm>
            <a:off x="6381750" y="19240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Monitored patients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FB5AB3-D295-4129-AA20-677951BE9A2E}"/>
              </a:ext>
            </a:extLst>
          </p:cNvPr>
          <p:cNvSpPr>
            <a:spLocks noGrp="1"/>
          </p:cNvSpPr>
          <p:nvPr/>
        </p:nvSpPr>
        <p:spPr>
          <a:xfrm>
            <a:off x="6381750" y="24669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Search by patient or CKD stage; filter by current rules or prediction availability.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49FB7-FFE8-493F-890F-56F9CA4F0FB3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Review priority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D25F9-344C-4DC0-900D-D01675568A8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overview highlights current criteria first; otherwise it uses the highest valid risks.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78C5C-E419-455A-ADE9-54D0E5941DB4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Review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C4D663-E433-4F36-9B0F-3948CC456726}"/>
              </a:ext>
            </a:extLst>
          </p:cNvPr>
          <p:cNvSpPr>
            <a:spLocks noGrp="1"/>
          </p:cNvSpPr>
          <p:nvPr/>
        </p:nvSpPr>
        <p:spPr>
          <a:xfrm>
            <a:off x="6381750" y="45624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Priority patients without a saved review note appear in the pending queue.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DCA24B-EC6C-421E-A8F8-7BFBEC447F74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3825AA-E679-50E7-7577-8E08E138F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6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EE0AD7-E89A-4145-BAD1-211F93E61F8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Clinical overview in the live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822BDA-0FC1-4965-BB9F-A1F7277E7015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7D537-F41D-4BE2-8A8D-082FCAC6CF1A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18 monitored patients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CA9001-CB5B-4960-AE9D-8BF15194A603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overview displays six patients meeting current creatinine criteria and 18 available risk results.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6245D-CB8C-43DA-AA92-285C22463D4C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Priority uses observed criteria before model-based ranking.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1C897-CB8E-44E8-AB98-3670111A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DA77C1-5B0A-429A-98F7-5090EE05F70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B1295-48D4-49C4-98A7-E32076783046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48A427-1AE3-B719-B437-2F64E5809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2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3BB380-1B16-455F-8F4F-1503475681D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Monitored patients and risk ordering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4D08E-F929-41B0-8B13-662C77297AC5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8AEFD6-94BD-47FF-B08F-1EE1B8F68C0F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Separate review signals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E2DFE-4B14-4DE4-9115-7EF48BD7D3F0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Current rule, clinical priority, 24-hour probability, and generation time appear in distinct columns.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C004F-60E4-4222-ADDB-B4BED85A4335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Search and filters support cohort review. Values are saved synthetic demo outputs.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928E3-4AB8-4051-877F-1275C6FF5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B6BB53-59BF-4226-9BDD-34D5915691F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76B2CC-1982-45A3-83FB-227BECA04CE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378802-3FAF-4F78-8837-4F797C890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0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733240B-6B29-4326-AB6A-FD387FA86C1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 detail: evidence in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7270F-A18F-472F-9E2B-65E60AD6939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F1DCE7-7A60-4C37-A3F2-B425B310648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6F9F3-5DDB-4711-AA3F-F935599F7ABB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839E9-7C4C-44A3-BBB0-801DC75DD286}"/>
              </a:ext>
            </a:extLst>
          </p:cNvPr>
          <p:cNvSpPr>
            <a:spLocks noGrp="1"/>
          </p:cNvSpPr>
          <p:nvPr/>
        </p:nvSpPr>
        <p:spPr>
          <a:xfrm>
            <a:off x="1485900" y="18478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History and trends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778AE-DAA6-4FAC-8B2D-AC58531A04F9}"/>
              </a:ext>
            </a:extLst>
          </p:cNvPr>
          <p:cNvSpPr>
            <a:spLocks noGrp="1"/>
          </p:cNvSpPr>
          <p:nvPr/>
        </p:nvSpPr>
        <p:spPr>
          <a:xfrm>
            <a:off x="4762500" y="1847850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Review EHR laboratory evidence and simulated IoT observations separately.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10ABD3-5801-43B0-B456-6F3163C1FF33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0FF746-65A5-4058-8755-03020538FB6C}"/>
              </a:ext>
            </a:extLst>
          </p:cNvPr>
          <p:cNvSpPr>
            <a:spLocks noGrp="1"/>
          </p:cNvSpPr>
          <p:nvPr/>
        </p:nvSpPr>
        <p:spPr>
          <a:xfrm>
            <a:off x="1485900" y="28670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Observed rule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7AFFB8-8F9E-44AE-8957-2346E65C3C8E}"/>
              </a:ext>
            </a:extLst>
          </p:cNvPr>
          <p:cNvSpPr>
            <a:spLocks noGrp="1"/>
          </p:cNvSpPr>
          <p:nvPr/>
        </p:nvSpPr>
        <p:spPr>
          <a:xfrm>
            <a:off x="4762500" y="286702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Inspect creatinine evidence and the comparison supporting the current rule.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CEED98-583D-4AE7-88C7-18ABBE6177F6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2B3F1-4542-43F8-B557-CD2C9477918A}"/>
              </a:ext>
            </a:extLst>
          </p:cNvPr>
          <p:cNvSpPr>
            <a:spLocks noGrp="1"/>
          </p:cNvSpPr>
          <p:nvPr/>
        </p:nvSpPr>
        <p:spPr>
          <a:xfrm>
            <a:off x="1485900" y="38862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Forecast and influence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813555-1C60-4596-9CBA-21CC61F80ECB}"/>
              </a:ext>
            </a:extLst>
          </p:cNvPr>
          <p:cNvSpPr>
            <a:spLocks noGrp="1"/>
          </p:cNvSpPr>
          <p:nvPr/>
        </p:nvSpPr>
        <p:spPr>
          <a:xfrm>
            <a:off x="4762500" y="3886200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Check 24-hour probability, data quality, prediction time, and SHAP values.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F357B9-966E-4F2B-9709-B30307D63D10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7B69F0-E575-4156-9B6F-70D631D3FAB4}"/>
              </a:ext>
            </a:extLst>
          </p:cNvPr>
          <p:cNvSpPr>
            <a:spLocks noGrp="1"/>
          </p:cNvSpPr>
          <p:nvPr/>
        </p:nvSpPr>
        <p:spPr>
          <a:xfrm>
            <a:off x="1485900" y="4905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Doctor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BE57E7-1D40-458D-9FAA-9DD90346C6F6}"/>
              </a:ext>
            </a:extLst>
          </p:cNvPr>
          <p:cNvSpPr>
            <a:spLocks noGrp="1"/>
          </p:cNvSpPr>
          <p:nvPr/>
        </p:nvSpPr>
        <p:spPr>
          <a:xfrm>
            <a:off x="4762500" y="490537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Keep the clinician’s note distinct from generated evidence and explanations.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4A66FE-000E-4746-9297-A1E69057D4A8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44D0E2-1325-8652-7FCA-F303F4B2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8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FF6D32-7842-4652-9D1F-DE61E41635A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 digital twin: history and trends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3A402-0CAE-4FD1-B508-DB32836565D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F1347-36D0-4959-A792-918CC9BD15F2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Synthetic patient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F188A-9678-4407-8DDF-F79DFFF8BACA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patient record shows kidney measurements and separate creatinine and eGFR trends.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4CAB7-65ED-4E56-9E76-850DB432353D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 full patient record is available alongside the report action.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AA6E2-C15F-4D85-BF99-774E2DF9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A6FDAC-9EB1-41A8-8FD9-1D4531A0287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4FE55-FC3E-4854-9276-2F69AACBC988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601787-8B62-3767-4E68-9F8095958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C5E3E5-AB8B-4DC1-A5EC-FE946966E61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Current evidence and future risk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82E2D-00DE-4F2E-B29A-E2C762D2DB3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297F4-AEFA-4540-B7E2-6D86710E086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50975-5355-4798-A322-183298F45B37}"/>
              </a:ext>
            </a:extLst>
          </p:cNvPr>
          <p:cNvGraphicFramePr/>
          <p:nvPr/>
        </p:nvGraphicFramePr>
        <p:xfrm>
          <a:off x="609600" y="1847850"/>
          <a:ext cx="10972800" cy="28575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answered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does observed creatinine show?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Criteria met / not met / insufficient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24-hour model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a new AKI event forecast?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Probability when inputs pass validation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SHAP explanation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influenced this model output?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Feature influence in log-odds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18F0143-70C5-4B06-BA58-B1ED49A80AFA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76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The implemented clinical rule is creatinine-only; urine-output criteria are not assessed.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05558-6F92-4749-9FBD-D3EF64561E8A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These are prototype evidence outputs, not diagnosis or treatment guidance.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C3686-7B06-4D55-A3AB-E89D3D5633AF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1E22-33BD-7CAF-BDC6-AA35ED2A8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82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ADA91A-A93C-4EFD-9D7F-20D20F656A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Observed criteria beside predicted risk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B3286E-65FA-476A-B59B-12AC03AD2CF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C14BC-0A14-4CFA-8061-CDB0E14ED15E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Two different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B4AFC-7191-483C-96EA-FAEA9F83A128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current creatinine rule is shown beside a saved 24-hour AKI probability of 92.1%.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624F5-26A3-49A7-B11B-AC21152E1FA9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 forecast’s generation timestamp remains visible. These are synthetic demo outputs.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2BCAB-2549-4970-A659-9DF693DA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8CB6B-B9A2-48F2-9123-84F77551246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CD75A-B14C-4DAD-AE98-A010A6FA456B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3351BA-AE8A-84DC-8692-FCD6CAABE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7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A8B38C-CC44-4E7D-851D-D005A4ED8AF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How the 24-hour model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879648-9A8B-4ED0-AEFF-D6204A9F84A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938D1-8630-43BE-A354-8E6C48F39BA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F356E-8810-491F-9D82-51D94F18D86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552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Four model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2FB25-09BF-48EA-9AAF-F6FB8C735FAA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5524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Age in years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Latest creatinine (mg/dL)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Creatinine change within 48 hours (mg/dL)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Latest systolic blood pressure (mmHg)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12004-68AB-4B56-86B0-9265EFCF4AA4}"/>
              </a:ext>
            </a:extLst>
          </p:cNvPr>
          <p:cNvSpPr>
            <a:spLocks noGrp="1"/>
          </p:cNvSpPr>
          <p:nvPr/>
        </p:nvSpPr>
        <p:spPr>
          <a:xfrm>
            <a:off x="6667500" y="19431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Controlled 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05C0A3-2A85-4A77-A44C-C51A2A2C71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Validate evidence and freshness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Build the cutoff-safe feature snapshot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Run the verified XGBoost pipeline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Return probability, metadata, and explanation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7AE2F-DFF4-470A-B647-795432AD59CD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704850"/>
          </a:xfrm>
          <a:prstGeom prst="rect">
            <a:avLst/>
          </a:prstGeom>
          <a:solidFill>
            <a:srgbClr val="DCEEE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914C5B-C607-4833-8AEC-4DEA12FC5BCC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1053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The target is a new event in the open next-24-hour window after the cutoff.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9D7B65-5B0A-4488-91CE-6CFFBBE5210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E39472-A5B4-750C-E174-61FC853A4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7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7F41D7-EE05-4D64-8B4A-37C060F0220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Risk unavailable is an explicit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6D5019-669E-47E2-A905-43B1DB3CD61D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297751-4E41-4A56-AD2C-F1BCD6E47D6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B06D4-B3A6-4520-8018-C106B60DE79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Missing or invalid evidence never becomes 0%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C4880-362C-4E21-9BDA-0E8F332EBA85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523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Evidence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0C16DC-E57F-48EC-A95C-BDD0BAF7D60C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5238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Missing creatinine history or comparator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Missing or stale IoT observations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Invalid timestamps, units, or provenance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FB14A-DF7F-4AFA-94D8-C1D328D9F31E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Integrity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AA2CC-37A4-4C67-A1CA-615B8D6CB2DD}"/>
              </a:ext>
            </a:extLst>
          </p:cNvPr>
          <p:cNvSpPr>
            <a:spLocks noGrp="1"/>
          </p:cNvSpPr>
          <p:nvPr/>
        </p:nvSpPr>
        <p:spPr>
          <a:xfrm>
            <a:off x="6381750" y="3686175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Model bundle and feature alignment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Finite prediction and SHAP values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Explanation reconciliation with model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16398-F1BC-46ED-AB67-2D9086F6FCB0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required observations follow a 24-hour freshness policy. Unavailable results carry reasons for review.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0615F-0D6A-468C-BC2E-4448AD57485C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A4D9F-BA58-EAA1-A7CA-33DC26B0F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0F826D-EB1C-4037-890B-35BA34987A1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SHAP explains model influence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3541E-3EEE-4876-9C29-1FD6060B8F87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BD6F9D-B5F0-4322-A9D9-2764B3E0B68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4FA399-8B1F-4B26-AAE8-ACC2C22E5713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Baseline + feature contributions = model raw margin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2B969-5447-4788-B951-ECBD1C25A8C8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620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positive contribution pushes the model output upward; a negative contribution pushes it downward relative to the model baseline.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18475-B350-4BB1-A205-221CAAA72166}"/>
              </a:ext>
            </a:extLst>
          </p:cNvPr>
          <p:cNvSpPr>
            <a:spLocks noGrp="1"/>
          </p:cNvSpPr>
          <p:nvPr/>
        </p:nvSpPr>
        <p:spPr>
          <a:xfrm>
            <a:off x="609600" y="460057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Verified explanation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B5CF6-81BD-4C54-A8A1-27F50354A981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backend checks named features and verifies that the contributions reconcile with the model output.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80EEA4-886B-4748-9A1C-A2C54D6EE3B4}"/>
              </a:ext>
            </a:extLst>
          </p:cNvPr>
          <p:cNvSpPr>
            <a:spLocks noGrp="1"/>
          </p:cNvSpPr>
          <p:nvPr/>
        </p:nvSpPr>
        <p:spPr>
          <a:xfrm>
            <a:off x="6381750" y="460057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Correct 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48786-9AE4-4D57-8348-E3662E6361C8}"/>
              </a:ext>
            </a:extLst>
          </p:cNvPr>
          <p:cNvSpPr>
            <a:spLocks noGrp="1"/>
          </p:cNvSpPr>
          <p:nvPr/>
        </p:nvSpPr>
        <p:spPr>
          <a:xfrm>
            <a:off x="6381750" y="51435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SHAP describes this model’s behavior. It does not establish causes or recommend an intervention.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EE742F-DAF6-4E58-9067-EE472A5FCCA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CFD14A-3895-D64E-4006-390656662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CACBA8-91DA-4AD7-AC7E-46DD9D0CCD3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SHAP feature influence in the app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625D36-F481-4B76-9F7B-04161779FF5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F57815-387E-4499-AF4A-74FAAAA02835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Explain the model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3035D-A318-4FB9-8FC8-D669FAEB1E85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view lists feature values and positive or negative contributions, with a reconstructed probability.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DF81B-9B70-4F03-8006-E881A19830AB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Contributions describe model influence; they are not causes or treatment advice.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94670-C037-455E-AA5E-7700E5D9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B04055-6B14-45D9-BED7-0ACFE739104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FF363-7A85-4E6E-A96C-C56FF212089C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3DC358-D1D7-80EC-EE55-CC59A9E3D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9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132EC7-539D-40DC-87F5-AC0DF27BDA2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Twini: project-grounded assistance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7BEA5A-82C9-43FC-80C6-3DAC91A3F1C3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1E7B3-D9FE-41D9-9716-F9AD23617F5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1986AD-E725-40F7-AA3D-43FCC9FEB5DB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What it uses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EDC69-A2AA-4005-AE0E-114E72E6754E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Project documentation and optional selected synthetic-patient context, with source labels.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314843-2943-4C90-9DCE-6AEC25E17F26}"/>
              </a:ext>
            </a:extLst>
          </p:cNvPr>
          <p:cNvSpPr>
            <a:spLocks noGrp="1"/>
          </p:cNvSpPr>
          <p:nvPr/>
        </p:nvSpPr>
        <p:spPr>
          <a:xfrm>
            <a:off x="6381750" y="19621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Where it appears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7BEB49-EEE5-4EBE-A61C-B36741474EA7}"/>
              </a:ext>
            </a:extLst>
          </p:cNvPr>
          <p:cNvSpPr>
            <a:spLocks noGrp="1"/>
          </p:cNvSpPr>
          <p:nvPr/>
        </p:nvSpPr>
        <p:spPr>
          <a:xfrm>
            <a:off x="6381750" y="25050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dedicated assistant workspace and a compact drawer within the clinician experience.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8EEE3B-AF3C-4EA8-BDD3-256031F7BCA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How it runs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2319C2-7EE0-4AA6-A54B-4EDB4281B1B6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Requests go through the authorized backend to a Groq OpenAI-compatible integration.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E6FC25-EE77-4B3E-9574-2553C3400F9F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Its boundary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C8DD0-A25F-4D77-AA2A-E4CF0C74823A}"/>
              </a:ext>
            </a:extLst>
          </p:cNvPr>
          <p:cNvSpPr>
            <a:spLocks noGrp="1"/>
          </p:cNvSpPr>
          <p:nvPr/>
        </p:nvSpPr>
        <p:spPr>
          <a:xfrm>
            <a:off x="6381750" y="46386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Educational explanations only. It cannot modify records, rules, predictions, or SHAP output.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A8DC0B-ED6D-457A-BF3D-3DDC690AAC44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EA3224-9CD8-1FBA-DACB-0D98C3D2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9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8C7401-99F1-462B-B8E7-4E5A7C0CEB3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Twini assistant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C7E8D-B9AA-4F9A-BC44-5FA46BEF17C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7E689C-0279-401E-9B64-0288C17B554D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Project and patient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F7E03-4E01-4C98-A429-A9F80988D866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Project knowledge and a patient-context selector support the conversation workspace.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55787-E2BF-40E0-951B-CE0DBCFCEDD6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Suggested questions explain evidence, terminology, and evaluation.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291E9-9EAF-44F2-950E-69A90C720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59AA1F-EBB9-44F8-AC70-2956956E3BE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69B815-9E04-401D-869A-9E443BB8CE9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FB46B8-5333-3654-28D2-A7B442050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80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B076E7-1729-4051-A9AB-029636B977D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System architecture and trust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BE29F1-6695-40F7-849A-0D4D931E308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834A67-58D1-498A-9B8F-AE35007472A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65C85-6EC1-4DBB-BB18-8805AAFC965D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5336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Synthetic generator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9BA7F-B890-441F-95C4-C35D8E26E601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Separate EHR and IoT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B77FE-FDA5-4A42-8AF0-8ED8B26DA911}"/>
              </a:ext>
            </a:extLst>
          </p:cNvPr>
          <p:cNvSpPr>
            <a:spLocks noGrp="1"/>
          </p:cNvSpPr>
          <p:nvPr/>
        </p:nvSpPr>
        <p:spPr>
          <a:xfrm>
            <a:off x="3019425" y="2705100"/>
            <a:ext cx="409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EC3A8-2FDB-413F-9984-1711EC67B2A8}"/>
              </a:ext>
            </a:extLst>
          </p:cNvPr>
          <p:cNvSpPr>
            <a:spLocks noGrp="1"/>
          </p:cNvSpPr>
          <p:nvPr/>
        </p:nvSpPr>
        <p:spPr>
          <a:xfrm>
            <a:off x="3429000" y="2152650"/>
            <a:ext cx="25336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Firebase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4D0280-E3FE-46D8-9F15-6044B83D3910}"/>
              </a:ext>
            </a:extLst>
          </p:cNvPr>
          <p:cNvSpPr>
            <a:spLocks noGrp="1"/>
          </p:cNvSpPr>
          <p:nvPr/>
        </p:nvSpPr>
        <p:spPr>
          <a:xfrm>
            <a:off x="3429000" y="313372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Authentication + Firestore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560C6-1894-413D-A65A-5F30E2B85BA2}"/>
              </a:ext>
            </a:extLst>
          </p:cNvPr>
          <p:cNvSpPr>
            <a:spLocks noGrp="1"/>
          </p:cNvSpPr>
          <p:nvPr/>
        </p:nvSpPr>
        <p:spPr>
          <a:xfrm>
            <a:off x="5838825" y="2705100"/>
            <a:ext cx="409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311755-E233-4A5F-B60E-95FBA88BB411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25336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FastAPI backend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E1CD1-1584-4ACC-8D63-F61175D911FE}"/>
              </a:ext>
            </a:extLst>
          </p:cNvPr>
          <p:cNvSpPr>
            <a:spLocks noGrp="1"/>
          </p:cNvSpPr>
          <p:nvPr/>
        </p:nvSpPr>
        <p:spPr>
          <a:xfrm>
            <a:off x="6248400" y="313372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Authorization +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7607D2-8247-47A1-B580-B1CBB658B5F3}"/>
              </a:ext>
            </a:extLst>
          </p:cNvPr>
          <p:cNvSpPr>
            <a:spLocks noGrp="1"/>
          </p:cNvSpPr>
          <p:nvPr/>
        </p:nvSpPr>
        <p:spPr>
          <a:xfrm>
            <a:off x="8658225" y="2705100"/>
            <a:ext cx="409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1E66A-FCE3-4DDD-A410-B169F0AAB0A3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25336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Next.js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1A87F6-45DF-47BB-8634-B7F68060E025}"/>
              </a:ext>
            </a:extLst>
          </p:cNvPr>
          <p:cNvSpPr>
            <a:spLocks noGrp="1"/>
          </p:cNvSpPr>
          <p:nvPr/>
        </p:nvSpPr>
        <p:spPr>
          <a:xfrm>
            <a:off x="9067800" y="3133725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Clinician workspace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E24236-396F-4AC0-8B07-7647BA798CED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0972800" cy="1419225"/>
          </a:xfrm>
          <a:prstGeom prst="rect">
            <a:avLst/>
          </a:prstGeom>
          <a:solidFill>
            <a:srgbClr val="DCEEE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FBAD7F-4404-4ED9-A96D-BF78EF94E214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Trusted backend services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D6A5E-36CA-4031-9DB5-AB11DAF1B196}"/>
              </a:ext>
            </a:extLst>
          </p:cNvPr>
          <p:cNvSpPr>
            <a:spLocks noGrp="1"/>
          </p:cNvSpPr>
          <p:nvPr/>
        </p:nvSpPr>
        <p:spPr>
          <a:xfrm>
            <a:off x="838200" y="5038725"/>
            <a:ext cx="104775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Token and doctor-role checks  •  Current rules  •  XGBoost + SHAP</a:t>
            </a:r>
          </a:p>
          <a:p>
            <a:pPr>
              <a:buNone/>
              <a:def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Protected patient reports  •  Doctor notes  •  Twini integration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04263E-1466-4552-ADE1-FC2A82516B28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 browser calls protected APIs; privileged credentials remain server-side.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38575-FEE9-4F2F-92DC-14306ED6213D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00E9773-D2E3-18C3-7B9F-63489C28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43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AA24D0-3CE6-4A66-9885-9EE1B3BA946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Technology stack and responsibilities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93CD8-B1A4-432D-8F3B-74261FBECA5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B62122-4CC7-4E7E-97A6-2548A97E83D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55BABF-4D7A-474E-8C8B-3A105E446710}"/>
              </a:ext>
            </a:extLst>
          </p:cNvPr>
          <p:cNvGraphicFramePr/>
          <p:nvPr/>
        </p:nvGraphicFramePr>
        <p:xfrm>
          <a:off x="609600" y="1828800"/>
          <a:ext cx="10972800" cy="39814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Layer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Technology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Next.js, React, TypeScript, Recharts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Dashboard, patient trends,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API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Python, FastAPI, Pydantic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Protected evidence and workflow APIs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Identity and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Firebase Auth, Cloud Firestore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Doctor identity and versioned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ML and explanation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XGBoost, scikit-learn, SHAP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24-hour forecast and feature influence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Assistant and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Groq API, ReportLab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Grounded responses and patient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F122D3-D0F2-4D45-940B-BF6B67CF1288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606806-8FA7-6FAA-AC3D-1FC313A77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8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439ED-9307-4DE9-9633-2E60DECA24F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Synthetic evaluation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C255C-9DB7-47AC-AB89-52BF58AFDB12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E16B43-2375-4B7B-8924-E64864E048D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CFE220-0FC3-4822-845A-4AC1112F709A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C39BE7-D0E1-477B-B145-2A179181DB0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synthetic adult CKD patients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57105-12A4-4F73-BFDE-E390DBE8C465}"/>
              </a:ext>
            </a:extLst>
          </p:cNvPr>
          <p:cNvSpPr>
            <a:spLocks noGrp="1"/>
          </p:cNvSpPr>
          <p:nvPr/>
        </p:nvSpPr>
        <p:spPr>
          <a:xfrm>
            <a:off x="6667500" y="1924050"/>
            <a:ext cx="4714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74 / 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4E84E9-1839-4257-954E-52016741C3E0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training / held-out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5E09A8-0C78-42F1-98AD-09DE3040DE6D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525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Both compared models use the same held-out patients. There is no patient overlap between partitions.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EFB7C-3FA8-4393-A563-CBE11F8396B3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525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Features stop at the prediction cutoff. Labels use the following 24-hour window; patient IDs stay outside the feature matrix.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B77341-E4EF-4BC9-BBF3-90D5A26AF645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EFF5A5-023C-C134-4F0C-01FACBB8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13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03A170-B6F7-421C-A2F8-50B25EA474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Measured results on synthetic held-out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6D0AA-AF0D-48A2-8B7C-315738C18E4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1A796D-1B0D-4AB0-911C-C73716EAD3D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62AAD38A-35DC-4A28-897E-8C51A85B90B2}"/>
              </a:ext>
            </a:extLst>
          </p:cNvPr>
          <p:cNvGraphicFramePr/>
          <p:nvPr/>
        </p:nvGraphicFramePr>
        <p:xfrm>
          <a:off x="609600" y="1905000"/>
          <a:ext cx="65722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A68FD9D-157B-48E2-AE9F-1A653CEF0CF3}"/>
              </a:ext>
            </a:extLst>
          </p:cNvPr>
          <p:cNvSpPr>
            <a:spLocks noGrp="1"/>
          </p:cNvSpPr>
          <p:nvPr/>
        </p:nvSpPr>
        <p:spPr>
          <a:xfrm>
            <a:off x="7620000" y="2085975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0.781 → 0.811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98D9C-0550-4549-AF7D-16D3CDEB9B8D}"/>
              </a:ext>
            </a:extLst>
          </p:cNvPr>
          <p:cNvSpPr>
            <a:spLocks noGrp="1"/>
          </p:cNvSpPr>
          <p:nvPr/>
        </p:nvSpPr>
        <p:spPr>
          <a:xfrm>
            <a:off x="7620000" y="2628900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ROC AUC rises with the added simulated blood-pressure feature.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2FC3A6-34DD-4E57-BBD5-A0BB206C10CC}"/>
              </a:ext>
            </a:extLst>
          </p:cNvPr>
          <p:cNvSpPr>
            <a:spLocks noGrp="1"/>
          </p:cNvSpPr>
          <p:nvPr/>
        </p:nvSpPr>
        <p:spPr>
          <a:xfrm>
            <a:off x="7620000" y="40195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0.204 → 0.188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ED264-5806-449B-B658-A9E8F3DDE067}"/>
              </a:ext>
            </a:extLst>
          </p:cNvPr>
          <p:cNvSpPr>
            <a:spLocks noGrp="1"/>
          </p:cNvSpPr>
          <p:nvPr/>
        </p:nvSpPr>
        <p:spPr>
          <a:xfrm>
            <a:off x="7620000" y="4562475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Brier score falls; lower is better for this probability-error metric.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AA115-11C4-418D-9DCA-7EF93AA1F6A9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Small deterministic cohort • Synthetic research evaluation • No clinical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22E85F-7342-4473-B50F-2C84ACDE3C9F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A0C051-646A-D5C7-7EF2-1145212EE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67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D21C7-B37E-4519-9FD1-4A2D5828516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Full comparison and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B5C40-CBF5-43FC-BAC4-C3710D6D5AC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4180E4-DE20-4627-B8CB-50AEC04E9FA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AE5B38-8C6A-4639-8D87-FAF33B6831A8}"/>
              </a:ext>
            </a:extLst>
          </p:cNvPr>
          <p:cNvGraphicFramePr/>
          <p:nvPr/>
        </p:nvGraphicFramePr>
        <p:xfrm>
          <a:off x="609600" y="1828800"/>
          <a:ext cx="10972800" cy="3476628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EHR only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EHR + IoT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Direction</a:t>
                      </a:r>
                    </a:p>
                  </a:txBody>
                  <a:tcPr>
                    <a:solidFill>
                      <a:srgbClr val="0D6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ROC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is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precision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0.841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0.859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is better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is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 loss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0.656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0.600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is better</a:t>
                      </a:r>
                    </a:p>
                  </a:txBody>
                  <a:tcPr>
                    <a:solidFill>
                      <a:srgbClr val="D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Accuracy at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6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is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D91E878-857B-4F9C-8C22-821FE29C27BC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The 0.5 threshold is descriptive, not a clinical decision threshold. These results do not establish real-world performance.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32120-1F95-41C0-8BEB-48556D0ED6CE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A41FE5-5057-0EE9-D659-62CCBCD5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53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28E717-06B5-4A49-B468-C6B1624BCE6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Reports, review notes, and secure access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51CAD-AAEA-42EB-BCE7-C39BDF47E662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1D607-D8BD-4983-8E82-270B7087D7A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F5832-B4AD-4A61-9A9E-1FB356F66739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 PDF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AE5D2-E67C-4AD4-8056-5476729F03CB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protected patient-level report separates observed rules, predictions, SHAP influence, and notes.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7F424-BE15-45F8-B741-265E724A0468}"/>
              </a:ext>
            </a:extLst>
          </p:cNvPr>
          <p:cNvSpPr>
            <a:spLocks noGrp="1"/>
          </p:cNvSpPr>
          <p:nvPr/>
        </p:nvSpPr>
        <p:spPr>
          <a:xfrm>
            <a:off x="6381750" y="193357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Review notes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97317-F968-4060-B624-2B802F2FCF3A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Doctor-authored observations remain separate from generated evidence; saved notes update queue state.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90358-DE36-4DD8-ABA1-43F061E8FC91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Authorized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0495D-85E0-40D3-8BAE-67F31D7A43D3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server verifies Firebase ID tokens and requires the exact trusted role: doctor.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315BBA-911B-4A6E-91A4-FF9486CF79C6}"/>
              </a:ext>
            </a:extLst>
          </p:cNvPr>
          <p:cNvSpPr>
            <a:spLocks noGrp="1"/>
          </p:cNvSpPr>
          <p:nvPr/>
        </p:nvSpPr>
        <p:spPr>
          <a:xfrm>
            <a:off x="6381750" y="40386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Credential boundary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16FA1-759E-445E-AF68-098E34B32697}"/>
              </a:ext>
            </a:extLst>
          </p:cNvPr>
          <p:cNvSpPr>
            <a:spLocks noGrp="1"/>
          </p:cNvSpPr>
          <p:nvPr/>
        </p:nvSpPr>
        <p:spPr>
          <a:xfrm>
            <a:off x="6381750" y="45815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Firebase Admin credentials and the AI-provider key remain in backend configuration.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5CABFA-6CBE-436C-A497-5E81FC113CBA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140D89-8129-1F9E-D24E-C2CBC5B9A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0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7248A9D-C6CD-4A22-A8AE-8ABF1BA5D34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 reports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DFC835-3152-4DDF-AE92-6CFF8749690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EECDBD-4405-457F-996B-A66A6116D74D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One report per patient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A9B33-C2BA-4C71-A429-A210001A98F9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reports page lists 18 synthetic patient reports with record links and PDF download controls.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EE890-451A-4959-9F50-8020834ADDE2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Reports keep observed rules, model output, SHAP, and notes in separate sections.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77131-1710-4391-A028-FDD701D59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150" y="1647825"/>
            <a:ext cx="6683300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A355C3-3C43-4305-AD2B-39ECC6B8906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759326-55FD-449C-BA50-E9FE0CF0ADA3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6DA587-6CE1-B43A-9F76-BBB6827AD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05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D69396-CD0A-44A4-AF9F-345071F2681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Patients awaiting doctor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CAD147-DF6A-4422-AA2B-600EDB104F9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1D582-ED77-499B-8C53-777E9B66C809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47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A focused pending queue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C35804-EDCE-47C7-92F3-C27C9619265B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64795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The captured queue contains four prioritized synthetic patients awaiting a saved doctor note.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34C92-8DCD-491F-B9BF-95A9863C2CA3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6479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A saved note moves the patient out of this pending queue.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1A07E-1868-4B1F-941F-9AFFA87CF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1064" y="1647825"/>
            <a:ext cx="6685471" cy="459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A4D124-BFE1-4CAF-9B42-A3D0B0F561A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253BB-91C4-4093-ABA7-08B393840A03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DD3EA7-3F27-5ECB-43A1-DBA884D22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8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CC691-9EC8-47B6-B173-46F8880A3BA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Prototype value and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C7FFB1-FBA1-470F-A5E5-2EB077884CA3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CAD5D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86D6F-DC9D-4A28-963F-8AD43B14A01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7C3EA-5CCA-455F-B7A8-CD901AFB6A38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Demonstrated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E0018-BB07-4104-AE63-259E9754E567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5238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A connected review workflow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Traceable EHR and IoT streams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Explicit unavailable-risk states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Model influence, notes, and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AC7D8-38BC-493C-9B52-B3C7B2EC47AB}"/>
              </a:ext>
            </a:extLst>
          </p:cNvPr>
          <p:cNvSpPr>
            <a:spLocks noGrp="1"/>
          </p:cNvSpPr>
          <p:nvPr/>
        </p:nvSpPr>
        <p:spPr>
          <a:xfrm>
            <a:off x="6381750" y="1962150"/>
            <a:ext cx="523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Required before clinical 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F021F-BCAC-4CF9-BC87-1744EC09D264}"/>
              </a:ext>
            </a:extLst>
          </p:cNvPr>
          <p:cNvSpPr>
            <a:spLocks noGrp="1"/>
          </p:cNvSpPr>
          <p:nvPr/>
        </p:nvSpPr>
        <p:spPr>
          <a:xfrm>
            <a:off x="6381750" y="2505075"/>
            <a:ext cx="5238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Representative clinical data and ethics review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External validation and calibration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Prospective workflow evaluation</a:t>
            </a:r>
          </a:p>
          <a:p>
            <a:pPr>
              <a:buNone/>
              <a:def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624"/>
                </a:solidFill>
                <a:latin typeface="DejaVu Sans"/>
                <a:ea typeface="DejaVu Sans"/>
                <a:cs typeface="DejaVu Sans"/>
              </a:rPr>
              <a:t>Security and regulatory assessment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140BE-152F-4DF0-BC50-BC6823C603F4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838200"/>
          </a:xfrm>
          <a:prstGeom prst="rect">
            <a:avLst/>
          </a:prstGeom>
          <a:solidFill>
            <a:srgbClr val="DCEEE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CC9DF4-7178-48BC-95C0-C6596DE09B3E}"/>
              </a:ext>
            </a:extLst>
          </p:cNvPr>
          <p:cNvSpPr>
            <a:spLocks noGrp="1"/>
          </p:cNvSpPr>
          <p:nvPr/>
        </p:nvSpPr>
        <p:spPr>
          <a:xfrm>
            <a:off x="838200" y="5410200"/>
            <a:ext cx="1047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D665D"/>
                </a:solidFill>
                <a:latin typeface="DejaVu Sans"/>
                <a:ea typeface="DejaVu Sans"/>
                <a:cs typeface="DejaVu Sans"/>
              </a:rPr>
              <a:t>The prototype demonstrates an approach to review; patient benefit has not been measured.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003052-7697-4DBD-9DC6-5FCD70D7DA56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D6C68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B8BA4D-0DC8-27BA-3AE4-25AD27D0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64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D18316-D897-4486-BADC-892BBB4F83B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TwinBean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EAFEF9-B90B-4C36-8822-CC39470B563B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3C716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F3176C-179E-4467-8DF2-CD296C9D7F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TwinBean  •  Synthetic research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1F3D5-4ED5-42E5-B41B-CE86F3916A60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Kidney evidence, organized</a:t>
            </a:r>
          </a:p>
          <a:p>
            <a: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 clinician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19781-D6D7-46D8-9EB2-4872FD191C8F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Traceable data. Separate signals. Explainable model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1DC796-FD25-491D-A475-AF25EC6B21FC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47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Synthetic research proof of concept</a:t>
            </a:r>
          </a:p>
          <a:p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Not a medical device • Not for diagnosis or treatment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F89241-37C1-48DA-9C93-DB6B79C4FDEC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9E8C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5C450-7BDA-A8B3-AC77-B40E6253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45749" y="146700"/>
            <a:ext cx="1032891" cy="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628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2775</Words>
  <Application>Microsoft Office PowerPoint</Application>
  <DocSecurity>0</DocSecurity>
  <PresentationFormat>Widescreen</PresentationFormat>
  <Paragraphs>350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Supran Sekhar Panda</cp:lastModifiedBy>
  <cp:revision>1</cp:revision>
  <dcterms:created xsi:type="dcterms:W3CDTF">2026-10-23T08:26:31Z</dcterms:created>
  <dcterms:modified xsi:type="dcterms:W3CDTF">2026-10-23T12:56:49Z</dcterms:modified>
</cp:coreProperties>
</file>